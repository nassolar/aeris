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1828800"/>
          </a:xfrm>
          <a:prstGeom prst="rect">
            <a:avLst/>
          </a:prstGeom>
          <a:solidFill>
            <a:srgbClr val="1A6EBD">
              <a:alpha val="20000"/>
            </a:srgbClr>
          </a:solidFill>
          <a:ln w="6350">
            <a:solidFill>
              <a:srgbClr val="1EAE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1828800" cy="914400"/>
          </a:xfrm>
          <a:prstGeom prst="rect">
            <a:avLst/>
          </a:prstGeom>
          <a:solidFill>
            <a:srgbClr val="1EAEDB">
              <a:alpha val="30000"/>
            </a:srgbClr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AERIS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Emergency Response Integrated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5029200" cy="32004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057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Philippines' First Unified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&amp; Civic Service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Route. Respond. — All in one app.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886200"/>
            <a:ext cx="2011680" cy="7772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AEDB"/>
                </a:solidFill>
              </a:rPr>
              <a:t>Citizen App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4"/>
                </a:solidFill>
              </a:rPr>
              <a:t>iOS &amp; Android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96312" y="3886200"/>
            <a:ext cx="2011680" cy="7772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AEDB"/>
                </a:solidFill>
              </a:rPr>
              <a:t>Responder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96312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4"/>
                </a:solidFill>
              </a:rPr>
              <a:t>Agency-linked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2584" y="3886200"/>
            <a:ext cx="2011680" cy="7772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AEDB"/>
                </a:solidFill>
              </a:rPr>
              <a:t>Partner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72584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4"/>
                </a:solidFill>
              </a:rPr>
              <a:t>Service Market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48856" y="3886200"/>
            <a:ext cx="2011680" cy="77724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AEDB"/>
                </a:solidFill>
              </a:rPr>
              <a:t>Web Portal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48856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0B4"/>
                </a:solidFill>
              </a:rPr>
              <a:t>Admin &amp; Dispatch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4480560"/>
            <a:ext cx="1371600" cy="36576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QC / TAGUIG PILOT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53E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AERIS had to be built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6400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Clear Channel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and violations are posted on Facebook, not forwarded to authorities — evidence is lost, action is delayed.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234440"/>
            <a:ext cx="2743200" cy="3383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1234440"/>
            <a:ext cx="2743200" cy="64008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4630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Fly Blind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PNP, BFP, and EMS receive fragmented calls with no GPS precision, no photo evidence, and no dispatch coordination layer.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35624" y="1234440"/>
            <a:ext cx="2743200" cy="3383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35624" y="1234440"/>
            <a:ext cx="2743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4630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LGUs Lack Data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governments have no real-time incident map, no pattern analytics, and no chain-of-custody evidence for prosecution.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AEDB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AERIS 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A6EBD">
              <a:alpha val="25000"/>
            </a:srgbClr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"Uber + 911"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platform where citizens report emergencies,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dispatch responders, and violations become admissible evidence.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743200" cy="23317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31720"/>
            <a:ext cx="2743200" cy="475488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describe in plain language. AI classifies, geocodes, and routes — no office visits, no sub-category selection.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331720"/>
            <a:ext cx="2743200" cy="23317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2331720"/>
            <a:ext cx="2743200" cy="475488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27832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2880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AI dispatches to correct agency tier — Barangay → LGU → National — with 5-step fallback chain.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35624" y="2331720"/>
            <a:ext cx="2743200" cy="23317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35624" y="2331720"/>
            <a:ext cx="2743200" cy="4754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23317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72784" y="2880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Responders get evidence, GPS, and playbooks on their app. Supervisors track live from the dispatch console.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6EBD"/>
                </a:solidFill>
              </a:rPr>
              <a:t>PLATFORM ECOSYSTEM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Apps. One Connected System.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2057400" cy="35661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188720"/>
            <a:ext cx="2057400" cy="73152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" y="13716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1783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2103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AEDB"/>
                </a:solidFill>
              </a:rPr>
              <a:t>iOS &amp; Android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0896" y="2441448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24048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emergency report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0896" y="2862072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28254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Photo/video evidence upload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0896" y="3282696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3246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case tracker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10896" y="3703320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8912" y="36667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button (always visible)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0896" y="4123944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4087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Coach AI for safety tips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414016" y="1188720"/>
            <a:ext cx="2057400" cy="35661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14016" y="1188720"/>
            <a:ext cx="205740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371600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505456" y="1783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App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505456" y="2103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553E"/>
                </a:solidFill>
              </a:rPr>
              <a:t>PNP · BFP · EMS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2523744" y="2441448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651760" y="24048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dispatch notifications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523744" y="2862072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651760" y="28254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GPS pre-loaded on arrival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523744" y="3282696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2651760" y="3246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Copilot (offline playbooks)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2523744" y="3703320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651760" y="36667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flow: Assigned → On-scene → Cleared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523744" y="4123944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651760" y="4087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report filing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626864" y="1188720"/>
            <a:ext cx="2057400" cy="35661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626864" y="1188720"/>
            <a:ext cx="20574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371600"/>
            <a:ext cx="347472" cy="34747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4718304" y="1783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App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4718304" y="2103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2C55E"/>
                </a:solidFill>
              </a:rPr>
              <a:t>Service Providers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736592" y="244144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64608" y="24048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 Shift with guaranteed pay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4736592" y="28620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864608" y="28254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Surge-priced emergency job toggle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736592" y="328269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4864608" y="3246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availability tracking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4736592" y="370332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864608" y="36667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 &amp; GCash payout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4736592" y="412394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864608" y="4087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provider portfolio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839712" y="1188720"/>
            <a:ext cx="2057400" cy="35661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6839712" y="1188720"/>
            <a:ext cx="2057400" cy="73152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71600"/>
            <a:ext cx="347472" cy="34747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6931152" y="17830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6931152" y="21031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6EBD"/>
                </a:solidFill>
              </a:rPr>
              <a:t>Admins &amp; Dispatchers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949440" y="2441448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077456" y="240487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incident map &amp; heatmaps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6949440" y="2862072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58" name="Text 52"/>
          <p:cNvSpPr/>
          <p:nvPr/>
        </p:nvSpPr>
        <p:spPr>
          <a:xfrm>
            <a:off x="7077456" y="282549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Multi-agency dispatch console</a:t>
            </a:r>
            <a:endParaRPr lang="en-US" sz="900" dirty="0"/>
          </a:p>
        </p:txBody>
      </p:sp>
      <p:sp>
        <p:nvSpPr>
          <p:cNvPr id="59" name="Shape 53"/>
          <p:cNvSpPr/>
          <p:nvPr/>
        </p:nvSpPr>
        <p:spPr>
          <a:xfrm>
            <a:off x="6949440" y="3282696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7077456" y="324612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chain-of-custody viewer</a:t>
            </a:r>
            <a:endParaRPr lang="en-US" sz="900" dirty="0"/>
          </a:p>
        </p:txBody>
      </p:sp>
      <p:sp>
        <p:nvSpPr>
          <p:cNvPr id="61" name="Shape 55"/>
          <p:cNvSpPr/>
          <p:nvPr/>
        </p:nvSpPr>
        <p:spPr>
          <a:xfrm>
            <a:off x="6949440" y="3703320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62" name="Text 56"/>
          <p:cNvSpPr/>
          <p:nvPr/>
        </p:nvSpPr>
        <p:spPr>
          <a:xfrm>
            <a:off x="7077456" y="366674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KPIs &amp; export tools</a:t>
            </a:r>
            <a:endParaRPr lang="en-US" sz="900" dirty="0"/>
          </a:p>
        </p:txBody>
      </p:sp>
      <p:sp>
        <p:nvSpPr>
          <p:cNvPr id="63" name="Shape 57"/>
          <p:cNvSpPr/>
          <p:nvPr/>
        </p:nvSpPr>
        <p:spPr>
          <a:xfrm>
            <a:off x="6949440" y="4123944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64" name="Text 58"/>
          <p:cNvSpPr/>
          <p:nvPr/>
        </p:nvSpPr>
        <p:spPr>
          <a:xfrm>
            <a:off x="7077456" y="408736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BOLO &amp; Field Comms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AEDB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Citizen Report to Resolved Incident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76072" y="1325880"/>
            <a:ext cx="914400" cy="914400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54480" y="1783080"/>
            <a:ext cx="411480" cy="0"/>
          </a:xfrm>
          <a:prstGeom prst="line">
            <a:avLst/>
          </a:prstGeom>
          <a:noFill/>
          <a:ln w="25400">
            <a:solidFill>
              <a:srgbClr val="1EAEDB"/>
            </a:solidFill>
            <a:prstDash val="sysDot"/>
          </a:ln>
        </p:spPr>
      </p:sp>
      <p:sp>
        <p:nvSpPr>
          <p:cNvPr id="8" name="Text 6"/>
          <p:cNvSpPr/>
          <p:nvPr/>
        </p:nvSpPr>
        <p:spPr>
          <a:xfrm>
            <a:off x="329184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plain-language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submitted.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sub-category needed.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3432" y="1325880"/>
            <a:ext cx="914400" cy="914400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91840" y="1783080"/>
            <a:ext cx="411480" cy="0"/>
          </a:xfrm>
          <a:prstGeom prst="line">
            <a:avLst/>
          </a:prstGeom>
          <a:noFill/>
          <a:ln w="25400">
            <a:solidFill>
              <a:srgbClr val="1A6EBD"/>
            </a:solidFill>
            <a:prstDash val="sysDot"/>
          </a:ln>
        </p:spPr>
      </p:sp>
      <p:sp>
        <p:nvSpPr>
          <p:cNvPr id="13" name="Text 11"/>
          <p:cNvSpPr/>
          <p:nvPr/>
        </p:nvSpPr>
        <p:spPr>
          <a:xfrm>
            <a:off x="2066544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3911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AI detects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category, geocodes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barangay via GPS.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0792" y="1325880"/>
            <a:ext cx="914400" cy="914400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5079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411480" cy="0"/>
          </a:xfrm>
          <a:prstGeom prst="line">
            <a:avLst/>
          </a:prstGeom>
          <a:noFill/>
          <a:ln w="25400">
            <a:solidFill>
              <a:srgbClr val="E8553E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3803904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ROUTED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7647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fallback chain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correct agency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(Brgy → LGU → National).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88152" y="1325880"/>
            <a:ext cx="914400" cy="9144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8815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766560" y="1783080"/>
            <a:ext cx="4114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ysDot"/>
          </a:ln>
        </p:spPr>
      </p:sp>
      <p:sp>
        <p:nvSpPr>
          <p:cNvPr id="23" name="Text 21"/>
          <p:cNvSpPr/>
          <p:nvPr/>
        </p:nvSpPr>
        <p:spPr>
          <a:xfrm>
            <a:off x="5541264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DISPATCHED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383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unit gets 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packet + GPS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Responder App.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525512" y="1325880"/>
            <a:ext cx="914400" cy="914400"/>
          </a:xfrm>
          <a:prstGeom prst="ellipse">
            <a:avLst/>
          </a:prstGeom>
          <a:solidFill>
            <a:srgbClr val="8BA0B4"/>
          </a:solidFill>
          <a:ln w="12700">
            <a:solidFill>
              <a:srgbClr val="8BA0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278624" y="2395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CLOSED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51192" y="28803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report filed.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tracker updated.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52628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0B4"/>
                </a:solidFill>
              </a:rPr>
              <a:t>Citizens never visit a physical office. All routing is internal. Every step is logged with SHA-256 immutable evidence hashing.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553E"/>
                </a:solidFill>
              </a:rPr>
              <a:t>FOR GOVERNMENT AGENCIES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AERIS Gives Every Agency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377440" cy="356616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AEDB"/>
                </a:solidFill>
              </a:rPr>
              <a:t>PARTNER AGENCIES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PNP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BFP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459736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597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EMS / DOH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43784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437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MMDA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227832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PDEA / NBI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95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DENR / EMB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379976"/>
            <a:ext cx="219456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799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PCG / Coast Guard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71800" y="118872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1188720"/>
            <a:ext cx="64008" cy="1097280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27248" y="12801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GPS-Precise Dispatch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160934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Incident GPS + barangay routing eliminates ambiguous location calls.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18872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1188720"/>
            <a:ext cx="64008" cy="109728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12801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Admissible Evidence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160934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SHA-256 hashed photos/videos with timestamps, ready for prosecution.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71800" y="242316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71800" y="2423160"/>
            <a:ext cx="64008" cy="1097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27248" y="251460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Physical Office Burden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27248" y="284378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Citizens routed digitally — no walk-in queues, no paper blotters.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242316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423160"/>
            <a:ext cx="64008" cy="109728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251460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Incident 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90488" y="284378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Live dashboard with heatmaps, patterns, and cross-agency visibility.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71800" y="365760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971800" y="3657600"/>
            <a:ext cx="64008" cy="1097280"/>
          </a:xfrm>
          <a:prstGeom prst="rect">
            <a:avLst/>
          </a:prstGeom>
          <a:solidFill>
            <a:srgbClr val="8BA0B4"/>
          </a:solidFill>
          <a:ln w="12700">
            <a:solidFill>
              <a:srgbClr val="8BA0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7248" y="37490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AI-Assisted Classification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127248" y="407822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Gemini Vision pre-screens evidence; Conductor AI suggests case type.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3657600"/>
            <a:ext cx="2926080" cy="109728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3657600"/>
            <a:ext cx="64008" cy="1097280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7490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Inter-Agency Coordination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90488" y="4078224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Field Comms tab enables cross-agency threads in a single interface.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C55E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Robin Hood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0B4"/>
                </a:solidFill>
              </a:rPr>
              <a:t>Commercial revenue cross-subsidizes free emergency infrastructure for government.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743200" cy="32461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2743200" cy="73152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6EB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Service Marketplace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73152" cy="73152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07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Uber-style transaction commission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55264"/>
            <a:ext cx="73152" cy="73152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27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Partner standby shift fees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675888"/>
            <a:ext cx="73152" cy="73152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48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Premium placement for providers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73152" cy="73152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Subscription tiers for power users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508760"/>
            <a:ext cx="2743200" cy="32461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1508760"/>
            <a:ext cx="2743200" cy="73152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6276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AE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3227832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Government / LGU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10712" y="2834640"/>
            <a:ext cx="73152" cy="73152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807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LGU agency subscriptions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3255264"/>
            <a:ext cx="73152" cy="73152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227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Enterprise data packages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3675888"/>
            <a:ext cx="73152" cy="73152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3648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Pilot onboarding contracts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4096512"/>
            <a:ext cx="73152" cy="73152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CSR/telco co-funding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35624" y="1508760"/>
            <a:ext cx="2743200" cy="324612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35624" y="1508760"/>
            <a:ext cx="274320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162763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5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6135624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Civic Reporting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18504" y="2834640"/>
            <a:ext cx="73152" cy="73152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807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Fine processing share (via ordinance)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18504" y="3255264"/>
            <a:ext cx="73152" cy="73152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32278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Evidence export packages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18504" y="3675888"/>
            <a:ext cx="73152" cy="73152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5664" y="3648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Analytics &amp; KPI dashboards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18504" y="4096512"/>
            <a:ext cx="73152" cy="73152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Violation verification fees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818888"/>
            <a:ext cx="8503920" cy="292608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81888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AEDB"/>
                </a:solidFill>
              </a:rPr>
              <a:t>Emergency response for citizens and government agencies remains FREE — funded by marketplace activity.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6EBD"/>
                </a:solidFill>
              </a:rPr>
              <a:t>PILOT ROLLOUT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Quezon City &amp; Taguig — 90-Day Launch Plan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15568" y="1389888"/>
            <a:ext cx="201168" cy="201168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490472"/>
            <a:ext cx="196596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91640"/>
            <a:ext cx="2011680" cy="297180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91640"/>
            <a:ext cx="2011680" cy="73152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EAEDB"/>
                </a:solidFill>
              </a:rPr>
              <a:t>Month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 Launch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968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2–3 barangays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145536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089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Traffic violations + EMS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82296" cy="82296"/>
          </a:xfrm>
          <a:prstGeom prst="ellipse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2102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QR code marketing campaign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389888"/>
            <a:ext cx="201168" cy="201168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2152" y="1490472"/>
            <a:ext cx="196596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6312" y="1691640"/>
            <a:ext cx="2011680" cy="297180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96312" y="1691640"/>
            <a:ext cx="2011680" cy="73152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A6EBD"/>
                </a:solidFill>
              </a:rPr>
              <a:t>Month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96312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City-Wide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79192" y="2633472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25968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All violation categories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79192" y="3145536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352" y="31089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PNP/BFP integration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79192" y="3657600"/>
            <a:ext cx="82296" cy="82296"/>
          </a:xfrm>
          <a:prstGeom prst="ellipse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362102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Live dispatch console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68112" y="138988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8424" y="1490472"/>
            <a:ext cx="1965960" cy="0"/>
          </a:xfrm>
          <a:prstGeom prst="line">
            <a:avLst/>
          </a:prstGeom>
          <a:noFill/>
          <a:ln w="19050">
            <a:solidFill>
              <a:srgbClr val="1E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72584" y="1691640"/>
            <a:ext cx="2011680" cy="297180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72584" y="1691640"/>
            <a:ext cx="20116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72584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</a:rPr>
              <a:t>Month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72584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55464" y="26334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92624" y="25968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KPI dashboards live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55464" y="3145536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92624" y="31089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Analytics review board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55464" y="365760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62102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Post-pilot contract talks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44384" y="1389888"/>
            <a:ext cx="201168" cy="201168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8856" y="1691640"/>
            <a:ext cx="2011680" cy="2971800"/>
          </a:xfrm>
          <a:prstGeom prst="rect">
            <a:avLst/>
          </a:prstGeom>
          <a:solidFill>
            <a:srgbClr val="162538"/>
          </a:solidFill>
          <a:ln w="12700">
            <a:solidFill>
              <a:srgbClr val="1E3A5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48856" y="1691640"/>
            <a:ext cx="201168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48856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8553E"/>
                </a:solidFill>
              </a:rPr>
              <a:t>Month 4–5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48856" y="2103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31736" y="2633472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8896" y="259689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BOLO system launch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31736" y="3145536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68896" y="31089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Rewards distribution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1736" y="3657600"/>
            <a:ext cx="82296" cy="82296"/>
          </a:xfrm>
          <a:prstGeom prst="ellipse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68896" y="362102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0B4"/>
                </a:solidFill>
              </a:rPr>
              <a:t>National agency MOU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754880"/>
            <a:ext cx="8503920" cy="329184"/>
          </a:xfrm>
          <a:prstGeom prst="rect">
            <a:avLst/>
          </a:prstGeom>
          <a:solidFill>
            <a:srgbClr val="1A6EBD">
              <a:alpha val="20000"/>
            </a:srgbClr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7548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AEDB"/>
                </a:solidFill>
              </a:rPr>
              <a:t>Primary Year 1 Metric: Number of verified citizen reports  ·  Secondary: Agency response time reduction  ·  Target: 2 cities signed by Month 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AEDB"/>
          </a:solidFill>
          <a:ln w="12700">
            <a:solidFill>
              <a:srgbClr val="1EA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457200"/>
            <a:ext cx="3017520" cy="4114800"/>
          </a:xfrm>
          <a:prstGeom prst="rect">
            <a:avLst/>
          </a:prstGeom>
          <a:solidFill>
            <a:srgbClr val="1A6EBD">
              <a:alpha val="12000"/>
            </a:srgbClr>
          </a:solidFill>
          <a:ln w="6350">
            <a:solidFill>
              <a:srgbClr val="1EAE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AERIS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A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ready to protect every Filipino city.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029200" cy="36576"/>
          </a:xfrm>
          <a:prstGeom prst="rect">
            <a:avLst/>
          </a:prstGeom>
          <a:solidFill>
            <a:srgbClr val="E8553E"/>
          </a:solidFill>
          <a:ln w="12700">
            <a:solidFill>
              <a:srgbClr val="E85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Sign MOU for the Quezon City / Taguig 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072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Assign agency liaison for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7413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Access live analytics from Day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AERIS the infrastructure backbone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Philippine emergency response.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AEDB"/>
                </a:solidFill>
              </a:rPr>
              <a:t>aeris.ph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</a:rPr>
              <a:t>Pilot: Quezon City &amp; Taguig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3500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</a:rPr>
              <a:t>Target Launch: Q1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8254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</a:rPr>
              <a:t>Tech: Firebase + React Native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3009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4"/>
                </a:solidFill>
              </a:rPr>
              <a:t>AI: Conductor + Gemini Vision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AERIS – Adaptive Emergency Response Integrated System</dc:title>
  <dc:subject>PptxGenJS Presentation</dc:subject>
  <dc:creator>PptxGenJS</dc:creator>
  <cp:lastModifiedBy>PptxGenJS</cp:lastModifiedBy>
  <cp:revision>1</cp:revision>
  <dcterms:created xsi:type="dcterms:W3CDTF">2026-03-09T03:25:25Z</dcterms:created>
  <dcterms:modified xsi:type="dcterms:W3CDTF">2026-03-09T03:25:25Z</dcterms:modified>
</cp:coreProperties>
</file>